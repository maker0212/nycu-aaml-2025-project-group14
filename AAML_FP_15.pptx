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59AC9E0-39BC-4C39-BE7B-512771C0189A}">
  <a:tblStyle styleId="{759AC9E0-39BC-4C39-BE7B-512771C018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83" y="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 Hsiang Lee" userId="0a18e1e4b13c691a" providerId="LiveId" clId="{A4506B65-29A3-4B1E-8554-08008FB0CB42}"/>
    <pc:docChg chg="custSel modSld">
      <pc:chgData name="Pao Hsiang Lee" userId="0a18e1e4b13c691a" providerId="LiveId" clId="{A4506B65-29A3-4B1E-8554-08008FB0CB42}" dt="2026-03-08T02:13:06.792" v="0" actId="478"/>
      <pc:docMkLst>
        <pc:docMk/>
      </pc:docMkLst>
      <pc:sldChg chg="addSp delSp modSp mod">
        <pc:chgData name="Pao Hsiang Lee" userId="0a18e1e4b13c691a" providerId="LiveId" clId="{A4506B65-29A3-4B1E-8554-08008FB0CB42}" dt="2026-03-08T02:13:06.792" v="0" actId="478"/>
        <pc:sldMkLst>
          <pc:docMk/>
          <pc:sldMk cId="0" sldId="256"/>
        </pc:sldMkLst>
        <pc:spChg chg="add mod">
          <ac:chgData name="Pao Hsiang Lee" userId="0a18e1e4b13c691a" providerId="LiveId" clId="{A4506B65-29A3-4B1E-8554-08008FB0CB42}" dt="2026-03-08T02:13:06.792" v="0" actId="478"/>
          <ac:spMkLst>
            <pc:docMk/>
            <pc:sldMk cId="0" sldId="256"/>
            <ac:spMk id="3" creationId="{670F81C2-9C36-5896-1905-4023FACA829F}"/>
          </ac:spMkLst>
        </pc:spChg>
        <pc:spChg chg="del">
          <ac:chgData name="Pao Hsiang Lee" userId="0a18e1e4b13c691a" providerId="LiveId" clId="{A4506B65-29A3-4B1E-8554-08008FB0CB42}" dt="2026-03-08T02:13:06.792" v="0" actId="478"/>
          <ac:spMkLst>
            <pc:docMk/>
            <pc:sldMk cId="0" sldId="256"/>
            <ac:spMk id="10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35ee7ddfc_1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b35ee7ddfc_1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35ee7ddfc_4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b35ee7ddfc_4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35ee7ddfc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35ee7ddfc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35ee7ddf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35ee7ddf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35ee7ddfc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3b35ee7ddfc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35ee7ddfc_4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35ee7ddfc_4_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35ee7ddfc_4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35ee7ddfc_4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35ee7ddfc_4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35ee7ddfc_4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35ee7ddfc_4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35ee7ddfc_4_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35ee7ddfc_4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35ee7ddfc_4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35ee7ddfc_4_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35ee7ddfc_4_5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35ee7ddfc_4_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35ee7ddfc_4_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35ee7ddfc_4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b35ee7ddfc_4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35ee7ddf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b35ee7ddf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35ee7ddf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b35ee7ddf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35ee7ddfc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3b35ee7ddfc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35ee7ddfc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b35ee7ddfc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b35ee7ddfc_1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g3b35ee7ddfc_1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AAML Final Project - Pruned Wav2Letter</a:t>
            </a:r>
            <a:endParaRPr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70F81C2-9C36-5896-1905-4023FACA82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Challenge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Methodology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Evaluation Result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Conclusion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" name="Google Shape;10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Challenge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Methodology 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Evaluation Result 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Conclusion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4" name="Google Shape;11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Challenge</a:t>
            </a:r>
            <a:endParaRPr/>
          </a:p>
        </p:txBody>
      </p:sp>
      <p:pic>
        <p:nvPicPr>
          <p:cNvPr id="120" name="Google Shape;120;p28"/>
          <p:cNvPicPr preferRelativeResize="0"/>
          <p:nvPr/>
        </p:nvPicPr>
        <p:blipFill rotWithShape="1">
          <a:blip r:embed="rId3">
            <a:alphaModFix/>
          </a:blip>
          <a:srcRect l="17829" r="17829"/>
          <a:stretch/>
        </p:blipFill>
        <p:spPr>
          <a:xfrm>
            <a:off x="3537475" y="262775"/>
            <a:ext cx="1793625" cy="33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463" y="3638725"/>
            <a:ext cx="1793650" cy="13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8"/>
          <p:cNvSpPr/>
          <p:nvPr/>
        </p:nvSpPr>
        <p:spPr>
          <a:xfrm>
            <a:off x="3398988" y="1935325"/>
            <a:ext cx="2070600" cy="1659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8"/>
          <p:cNvSpPr txBox="1"/>
          <p:nvPr/>
        </p:nvSpPr>
        <p:spPr>
          <a:xfrm>
            <a:off x="5736100" y="2571750"/>
            <a:ext cx="12009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X10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4" name="Google Shape;124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Pruned Wav2Letter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Challenge</a:t>
            </a:r>
            <a:endParaRPr/>
          </a:p>
        </p:txBody>
      </p:sp>
      <p:sp>
        <p:nvSpPr>
          <p:cNvPr id="130" name="Google Shape;13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Baseline (Software) Convolution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Multi-level for-loops (out_y / out_x / out_ch / filter_y / filter_x / in_ch)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Each MAC is surrounded by address computation, boundary checks, and loop-control overhead.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acc += filter_val * (input_val + input_offset);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#MAC≈B⋅OH⋅OW⋅OC⋅FH⋅FW⋅C_in/group​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136" name="Google Shape;136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Challenge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Methodology 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Evaluation Result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Conclusion 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37" name="Google Shape;13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/>
          <p:nvPr/>
        </p:nvSpPr>
        <p:spPr>
          <a:xfrm>
            <a:off x="4572000" y="163200"/>
            <a:ext cx="4193400" cy="4817100"/>
          </a:xfrm>
          <a:prstGeom prst="rect">
            <a:avLst/>
          </a:prstGeom>
          <a:solidFill>
            <a:srgbClr val="F9CB9C"/>
          </a:solidFill>
          <a:ln w="9900" cap="flat" cmpd="sng">
            <a:solidFill>
              <a:srgbClr val="1212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5200" tIns="95200" rIns="95200" bIns="95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7"/>
          </a:p>
        </p:txBody>
      </p:sp>
      <p:sp>
        <p:nvSpPr>
          <p:cNvPr id="143" name="Google Shape;143;p31"/>
          <p:cNvSpPr/>
          <p:nvPr/>
        </p:nvSpPr>
        <p:spPr>
          <a:xfrm>
            <a:off x="5819600" y="266146"/>
            <a:ext cx="1085700" cy="102300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800" tIns="93800" rIns="93800" bIns="93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76"/>
              <a:t>Quantization</a:t>
            </a:r>
            <a:endParaRPr sz="1076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76"/>
              <a:t>operate</a:t>
            </a:r>
            <a:endParaRPr sz="1076"/>
          </a:p>
        </p:txBody>
      </p:sp>
      <p:sp>
        <p:nvSpPr>
          <p:cNvPr id="144" name="Google Shape;144;p31"/>
          <p:cNvSpPr/>
          <p:nvPr/>
        </p:nvSpPr>
        <p:spPr>
          <a:xfrm>
            <a:off x="7951524" y="1435346"/>
            <a:ext cx="468000" cy="7290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800" tIns="93800" rIns="93800" bIns="93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40"/>
              <a:t>C0 </a:t>
            </a:r>
            <a:endParaRPr sz="1240"/>
          </a:p>
        </p:txBody>
      </p:sp>
      <p:sp>
        <p:nvSpPr>
          <p:cNvPr id="145" name="Google Shape;145;p31"/>
          <p:cNvSpPr txBox="1"/>
          <p:nvPr/>
        </p:nvSpPr>
        <p:spPr>
          <a:xfrm>
            <a:off x="4690863" y="2324653"/>
            <a:ext cx="8577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00" tIns="95200" rIns="95200" bIns="95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74" b="1">
                <a:solidFill>
                  <a:schemeClr val="dk2"/>
                </a:solidFill>
              </a:rPr>
              <a:t>CFU</a:t>
            </a:r>
            <a:endParaRPr sz="1874" b="1">
              <a:solidFill>
                <a:schemeClr val="dk2"/>
              </a:solidFill>
            </a:endParaRPr>
          </a:p>
        </p:txBody>
      </p:sp>
      <p:sp>
        <p:nvSpPr>
          <p:cNvPr id="146" name="Google Shape;146;p31"/>
          <p:cNvSpPr/>
          <p:nvPr/>
        </p:nvSpPr>
        <p:spPr>
          <a:xfrm>
            <a:off x="7263878" y="1276450"/>
            <a:ext cx="149400" cy="1023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475" tIns="89475" rIns="89475" bIns="89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0"/>
          </a:p>
        </p:txBody>
      </p:sp>
      <p:sp>
        <p:nvSpPr>
          <p:cNvPr id="147" name="Google Shape;147;p31"/>
          <p:cNvSpPr/>
          <p:nvPr/>
        </p:nvSpPr>
        <p:spPr>
          <a:xfrm>
            <a:off x="7568802" y="882550"/>
            <a:ext cx="149400" cy="3220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475" tIns="89475" rIns="89475" bIns="89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0"/>
          </a:p>
        </p:txBody>
      </p:sp>
      <p:sp>
        <p:nvSpPr>
          <p:cNvPr id="148" name="Google Shape;148;p31"/>
          <p:cNvSpPr/>
          <p:nvPr/>
        </p:nvSpPr>
        <p:spPr>
          <a:xfrm>
            <a:off x="7410053" y="807787"/>
            <a:ext cx="149400" cy="2398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475" tIns="89475" rIns="89475" bIns="89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0"/>
          </a:p>
        </p:txBody>
      </p:sp>
      <p:sp>
        <p:nvSpPr>
          <p:cNvPr id="149" name="Google Shape;149;p31"/>
          <p:cNvSpPr/>
          <p:nvPr/>
        </p:nvSpPr>
        <p:spPr>
          <a:xfrm>
            <a:off x="7104147" y="1246090"/>
            <a:ext cx="149400" cy="1899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475" tIns="89475" rIns="89475" bIns="89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0"/>
          </a:p>
        </p:txBody>
      </p:sp>
      <p:sp>
        <p:nvSpPr>
          <p:cNvPr id="150" name="Google Shape;150;p31"/>
          <p:cNvSpPr/>
          <p:nvPr/>
        </p:nvSpPr>
        <p:spPr>
          <a:xfrm>
            <a:off x="6772292" y="1724649"/>
            <a:ext cx="245700" cy="15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475" tIns="89475" rIns="89475" bIns="89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0"/>
          </a:p>
        </p:txBody>
      </p:sp>
      <p:sp>
        <p:nvSpPr>
          <p:cNvPr id="151" name="Google Shape;151;p31"/>
          <p:cNvSpPr/>
          <p:nvPr/>
        </p:nvSpPr>
        <p:spPr>
          <a:xfrm>
            <a:off x="6772292" y="2620253"/>
            <a:ext cx="245700" cy="15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475" tIns="89475" rIns="89475" bIns="89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0"/>
          </a:p>
        </p:txBody>
      </p:sp>
      <p:sp>
        <p:nvSpPr>
          <p:cNvPr id="152" name="Google Shape;152;p31"/>
          <p:cNvSpPr/>
          <p:nvPr/>
        </p:nvSpPr>
        <p:spPr>
          <a:xfrm>
            <a:off x="6772292" y="3515831"/>
            <a:ext cx="245700" cy="15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475" tIns="89475" rIns="89475" bIns="89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0"/>
          </a:p>
        </p:txBody>
      </p:sp>
      <p:sp>
        <p:nvSpPr>
          <p:cNvPr id="153" name="Google Shape;153;p31"/>
          <p:cNvSpPr/>
          <p:nvPr/>
        </p:nvSpPr>
        <p:spPr>
          <a:xfrm>
            <a:off x="6772292" y="4411422"/>
            <a:ext cx="245700" cy="15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475" tIns="89475" rIns="89475" bIns="89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0"/>
          </a:p>
        </p:txBody>
      </p:sp>
      <p:sp>
        <p:nvSpPr>
          <p:cNvPr id="154" name="Google Shape;154;p31"/>
          <p:cNvSpPr/>
          <p:nvPr/>
        </p:nvSpPr>
        <p:spPr>
          <a:xfrm>
            <a:off x="7700312" y="2609977"/>
            <a:ext cx="245700" cy="15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475" tIns="89475" rIns="89475" bIns="89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0"/>
          </a:p>
        </p:txBody>
      </p:sp>
      <p:sp>
        <p:nvSpPr>
          <p:cNvPr id="155" name="Google Shape;155;p31"/>
          <p:cNvSpPr/>
          <p:nvPr/>
        </p:nvSpPr>
        <p:spPr>
          <a:xfrm>
            <a:off x="7700312" y="3515830"/>
            <a:ext cx="245700" cy="15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475" tIns="89475" rIns="89475" bIns="89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0"/>
          </a:p>
        </p:txBody>
      </p:sp>
      <p:sp>
        <p:nvSpPr>
          <p:cNvPr id="156" name="Google Shape;156;p31"/>
          <p:cNvSpPr/>
          <p:nvPr/>
        </p:nvSpPr>
        <p:spPr>
          <a:xfrm>
            <a:off x="7700312" y="4424633"/>
            <a:ext cx="245700" cy="15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475" tIns="89475" rIns="89475" bIns="89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0"/>
          </a:p>
        </p:txBody>
      </p:sp>
      <p:sp>
        <p:nvSpPr>
          <p:cNvPr id="157" name="Google Shape;157;p31"/>
          <p:cNvSpPr/>
          <p:nvPr/>
        </p:nvSpPr>
        <p:spPr>
          <a:xfrm>
            <a:off x="5819600" y="1414784"/>
            <a:ext cx="1085700" cy="7701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800" tIns="93800" rIns="93800" bIns="93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42">
                <a:solidFill>
                  <a:schemeClr val="dk1"/>
                </a:solidFill>
              </a:rPr>
              <a:t>Buffer </a:t>
            </a:r>
            <a:r>
              <a:rPr lang="zh-TW" sz="1142"/>
              <a:t>A0</a:t>
            </a:r>
            <a:endParaRPr sz="1142"/>
          </a:p>
        </p:txBody>
      </p:sp>
      <p:sp>
        <p:nvSpPr>
          <p:cNvPr id="158" name="Google Shape;158;p31"/>
          <p:cNvSpPr/>
          <p:nvPr/>
        </p:nvSpPr>
        <p:spPr>
          <a:xfrm>
            <a:off x="5819576" y="2310374"/>
            <a:ext cx="1085700" cy="7701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800" tIns="93800" rIns="93800" bIns="93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42">
                <a:solidFill>
                  <a:schemeClr val="dk1"/>
                </a:solidFill>
              </a:rPr>
              <a:t>Buffer </a:t>
            </a:r>
            <a:r>
              <a:rPr lang="zh-TW" sz="1142"/>
              <a:t>A1</a:t>
            </a:r>
            <a:endParaRPr sz="1142"/>
          </a:p>
        </p:txBody>
      </p:sp>
      <p:sp>
        <p:nvSpPr>
          <p:cNvPr id="159" name="Google Shape;159;p31"/>
          <p:cNvSpPr/>
          <p:nvPr/>
        </p:nvSpPr>
        <p:spPr>
          <a:xfrm>
            <a:off x="7013535" y="266121"/>
            <a:ext cx="783600" cy="10230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800" tIns="93800" rIns="93800" bIns="93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44">
                <a:solidFill>
                  <a:schemeClr val="dk1"/>
                </a:solidFill>
              </a:rPr>
              <a:t>Buffer </a:t>
            </a:r>
            <a:r>
              <a:rPr lang="zh-TW" sz="1044"/>
              <a:t>B </a:t>
            </a:r>
            <a:endParaRPr sz="1044"/>
          </a:p>
        </p:txBody>
      </p:sp>
      <p:sp>
        <p:nvSpPr>
          <p:cNvPr id="160" name="Google Shape;160;p31"/>
          <p:cNvSpPr/>
          <p:nvPr/>
        </p:nvSpPr>
        <p:spPr>
          <a:xfrm>
            <a:off x="7951524" y="2320660"/>
            <a:ext cx="468000" cy="7290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800" tIns="93800" rIns="93800" bIns="93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40"/>
              <a:t>C1 </a:t>
            </a:r>
            <a:endParaRPr sz="1240"/>
          </a:p>
        </p:txBody>
      </p:sp>
      <p:sp>
        <p:nvSpPr>
          <p:cNvPr id="161" name="Google Shape;161;p31"/>
          <p:cNvSpPr/>
          <p:nvPr/>
        </p:nvSpPr>
        <p:spPr>
          <a:xfrm>
            <a:off x="7700335" y="1724649"/>
            <a:ext cx="245700" cy="15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475" tIns="89475" rIns="89475" bIns="89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0"/>
          </a:p>
        </p:txBody>
      </p:sp>
      <p:sp>
        <p:nvSpPr>
          <p:cNvPr id="162" name="Google Shape;162;p31"/>
          <p:cNvSpPr/>
          <p:nvPr/>
        </p:nvSpPr>
        <p:spPr>
          <a:xfrm>
            <a:off x="7013535" y="1414796"/>
            <a:ext cx="783600" cy="7701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800" tIns="93800" rIns="93800" bIns="93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36"/>
              <a:t>TPU 0</a:t>
            </a:r>
            <a:endParaRPr sz="1436"/>
          </a:p>
        </p:txBody>
      </p:sp>
      <p:sp>
        <p:nvSpPr>
          <p:cNvPr id="163" name="Google Shape;163;p31"/>
          <p:cNvSpPr/>
          <p:nvPr/>
        </p:nvSpPr>
        <p:spPr>
          <a:xfrm>
            <a:off x="7018000" y="2310387"/>
            <a:ext cx="783600" cy="7701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800" tIns="93800" rIns="93800" bIns="93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36"/>
              <a:t>TPU 1</a:t>
            </a:r>
            <a:endParaRPr sz="1436"/>
          </a:p>
        </p:txBody>
      </p:sp>
      <p:sp>
        <p:nvSpPr>
          <p:cNvPr id="164" name="Google Shape;164;p31"/>
          <p:cNvSpPr/>
          <p:nvPr/>
        </p:nvSpPr>
        <p:spPr>
          <a:xfrm>
            <a:off x="7013523" y="3205977"/>
            <a:ext cx="783600" cy="7701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800" tIns="93800" rIns="93800" bIns="93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36"/>
              <a:t>TPU 2</a:t>
            </a:r>
            <a:endParaRPr sz="1436"/>
          </a:p>
        </p:txBody>
      </p:sp>
      <p:sp>
        <p:nvSpPr>
          <p:cNvPr id="165" name="Google Shape;165;p31"/>
          <p:cNvSpPr/>
          <p:nvPr/>
        </p:nvSpPr>
        <p:spPr>
          <a:xfrm>
            <a:off x="7018000" y="4101568"/>
            <a:ext cx="783600" cy="7701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800" tIns="93800" rIns="93800" bIns="93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36"/>
              <a:t>TPU 3</a:t>
            </a:r>
            <a:endParaRPr sz="1436"/>
          </a:p>
        </p:txBody>
      </p:sp>
      <p:sp>
        <p:nvSpPr>
          <p:cNvPr id="166" name="Google Shape;166;p31"/>
          <p:cNvSpPr/>
          <p:nvPr/>
        </p:nvSpPr>
        <p:spPr>
          <a:xfrm>
            <a:off x="7951524" y="3205976"/>
            <a:ext cx="468000" cy="7290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800" tIns="93800" rIns="93800" bIns="93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40"/>
              <a:t>C2 </a:t>
            </a:r>
            <a:endParaRPr sz="1240"/>
          </a:p>
        </p:txBody>
      </p:sp>
      <p:sp>
        <p:nvSpPr>
          <p:cNvPr id="167" name="Google Shape;167;p31"/>
          <p:cNvSpPr/>
          <p:nvPr/>
        </p:nvSpPr>
        <p:spPr>
          <a:xfrm>
            <a:off x="7951524" y="4122116"/>
            <a:ext cx="468000" cy="7290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800" tIns="93800" rIns="93800" bIns="93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40"/>
              <a:t>C3 </a:t>
            </a:r>
            <a:endParaRPr sz="1240"/>
          </a:p>
        </p:txBody>
      </p:sp>
      <p:sp>
        <p:nvSpPr>
          <p:cNvPr id="168" name="Google Shape;168;p31"/>
          <p:cNvSpPr/>
          <p:nvPr/>
        </p:nvSpPr>
        <p:spPr>
          <a:xfrm>
            <a:off x="5819600" y="3205965"/>
            <a:ext cx="1085700" cy="7701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800" tIns="93800" rIns="93800" bIns="93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42">
                <a:solidFill>
                  <a:schemeClr val="dk1"/>
                </a:solidFill>
              </a:rPr>
              <a:t>Buffer </a:t>
            </a:r>
            <a:r>
              <a:rPr lang="zh-TW" sz="1142"/>
              <a:t>A2</a:t>
            </a:r>
            <a:endParaRPr sz="1142"/>
          </a:p>
        </p:txBody>
      </p:sp>
      <p:sp>
        <p:nvSpPr>
          <p:cNvPr id="169" name="Google Shape;169;p31"/>
          <p:cNvSpPr/>
          <p:nvPr/>
        </p:nvSpPr>
        <p:spPr>
          <a:xfrm>
            <a:off x="5819600" y="4101556"/>
            <a:ext cx="1085700" cy="7701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3800" tIns="93800" rIns="93800" bIns="93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42">
                <a:solidFill>
                  <a:schemeClr val="dk1"/>
                </a:solidFill>
              </a:rPr>
              <a:t>Buffer </a:t>
            </a:r>
            <a:r>
              <a:rPr lang="zh-TW" sz="1142"/>
              <a:t>A3</a:t>
            </a:r>
            <a:endParaRPr sz="1142"/>
          </a:p>
        </p:txBody>
      </p:sp>
      <p:sp>
        <p:nvSpPr>
          <p:cNvPr id="170" name="Google Shape;170;p31"/>
          <p:cNvSpPr txBox="1"/>
          <p:nvPr/>
        </p:nvSpPr>
        <p:spPr>
          <a:xfrm>
            <a:off x="101700" y="394625"/>
            <a:ext cx="4470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</a:rPr>
              <a:t>HW Architure &amp; SW implement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71" name="Google Shape;171;p31"/>
          <p:cNvSpPr txBox="1">
            <a:spLocks noGrp="1"/>
          </p:cNvSpPr>
          <p:nvPr>
            <p:ph type="body" idx="1"/>
          </p:nvPr>
        </p:nvSpPr>
        <p:spPr>
          <a:xfrm>
            <a:off x="307750" y="1414775"/>
            <a:ext cx="3812700" cy="32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Quad-Core Data Parallelism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Utilizes a SIMD-like architecture with 4 parallel TPU cores driven by software scheduling.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Distributes output pixel computation (M-dimension) across cores using QUAD_CORE_STEP to maximize hardware utilization.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>
            <a:spLocks noGrp="1"/>
          </p:cNvSpPr>
          <p:nvPr>
            <p:ph type="title"/>
          </p:nvPr>
        </p:nvSpPr>
        <p:spPr>
          <a:xfrm>
            <a:off x="311700" y="228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ISA (OP code)</a:t>
            </a:r>
            <a:endParaRPr/>
          </a:p>
        </p:txBody>
      </p:sp>
      <p:sp>
        <p:nvSpPr>
          <p:cNvPr id="177" name="Google Shape;177;p32"/>
          <p:cNvSpPr txBox="1">
            <a:spLocks noGrp="1"/>
          </p:cNvSpPr>
          <p:nvPr>
            <p:ph type="body" idx="1"/>
          </p:nvPr>
        </p:nvSpPr>
        <p:spPr>
          <a:xfrm>
            <a:off x="311700" y="962375"/>
            <a:ext cx="5426700" cy="39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zh-TW" sz="1300" b="1"/>
              <a:t>OP_1: </a:t>
            </a:r>
            <a:r>
              <a:rPr lang="zh-TW" sz="1300" b="1">
                <a:solidFill>
                  <a:srgbClr val="188038"/>
                </a:solidFill>
              </a:rPr>
              <a:t>Set Input Offset</a:t>
            </a:r>
            <a:endParaRPr sz="1300" b="1">
              <a:solidFill>
                <a:srgbClr val="188038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zh-TW" sz="1300" b="1"/>
              <a:t>OP_2 / 7: </a:t>
            </a:r>
            <a:r>
              <a:rPr lang="zh-TW" sz="1300" b="1">
                <a:solidFill>
                  <a:srgbClr val="188038"/>
                </a:solidFill>
              </a:rPr>
              <a:t>Set K, N / M</a:t>
            </a:r>
            <a:endParaRPr sz="1300" b="1">
              <a:solidFill>
                <a:srgbClr val="188038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zh-TW" sz="1300" b="1"/>
              <a:t>OP_3 / OP_13 / OP_20 / OP_25: </a:t>
            </a:r>
            <a:r>
              <a:rPr lang="zh-TW" sz="1300" b="1">
                <a:solidFill>
                  <a:srgbClr val="1155CC"/>
                </a:solidFill>
              </a:rPr>
              <a:t>Write Buffer A0–A3</a:t>
            </a:r>
            <a:endParaRPr sz="1300" b="1">
              <a:solidFill>
                <a:srgbClr val="1155CC"/>
              </a:solidFill>
            </a:endParaRPr>
          </a:p>
          <a:p>
            <a:pPr marL="914400" lvl="1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Write packed input to A buffers of each TPU</a:t>
            </a:r>
            <a:endParaRPr sz="130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zh-TW" sz="1300" b="1"/>
              <a:t>OP_4: </a:t>
            </a:r>
            <a:r>
              <a:rPr lang="zh-TW" sz="1300" b="1">
                <a:solidFill>
                  <a:srgbClr val="1155CC"/>
                </a:solidFill>
              </a:rPr>
              <a:t>Write Global Buffer B</a:t>
            </a:r>
            <a:endParaRPr sz="1300" b="1">
              <a:solidFill>
                <a:srgbClr val="1155CC"/>
              </a:solidFill>
            </a:endParaRPr>
          </a:p>
          <a:p>
            <a:pPr marL="914400" lvl="1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 b="1"/>
              <a:t>Broadcast to all TPU cores</a:t>
            </a:r>
            <a:endParaRPr sz="1300" b="1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zh-TW" sz="1300" b="1"/>
              <a:t>OP_10: </a:t>
            </a:r>
            <a:r>
              <a:rPr lang="zh-TW" sz="1300" b="1">
                <a:solidFill>
                  <a:srgbClr val="1155CC"/>
                </a:solidFill>
              </a:rPr>
              <a:t>TPU Start Computing</a:t>
            </a:r>
            <a:endParaRPr sz="1300" b="1">
              <a:solidFill>
                <a:srgbClr val="1155CC"/>
              </a:solidFill>
            </a:endParaRPr>
          </a:p>
          <a:p>
            <a:pPr marL="914400" lvl="1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 b="1"/>
              <a:t>Launch 4 TPU cores simultaneously</a:t>
            </a:r>
            <a:endParaRPr sz="1300" b="1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zh-TW" sz="1300" b="1"/>
              <a:t>OP_5 / OP_15 / OP_22 / OP_27: </a:t>
            </a:r>
            <a:r>
              <a:rPr lang="zh-TW" sz="1300" b="1">
                <a:solidFill>
                  <a:srgbClr val="1155CC"/>
                </a:solidFill>
              </a:rPr>
              <a:t>Read Buffer C0–C3</a:t>
            </a:r>
            <a:endParaRPr sz="1300" b="1">
              <a:solidFill>
                <a:srgbClr val="1155CC"/>
              </a:solidFill>
            </a:endParaRPr>
          </a:p>
          <a:p>
            <a:pPr marL="914400" lvl="1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Read accumulator results from each TPU</a:t>
            </a:r>
            <a:endParaRPr sz="130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zh-TW" sz="1300" b="1"/>
              <a:t>OP_6 / OP_8: </a:t>
            </a:r>
            <a:r>
              <a:rPr lang="zh-TW" sz="1300" b="1">
                <a:solidFill>
                  <a:srgbClr val="674EA7"/>
                </a:solidFill>
              </a:rPr>
              <a:t>Set quantization parameters</a:t>
            </a:r>
            <a:endParaRPr sz="1300" b="1">
              <a:solidFill>
                <a:srgbClr val="674EA7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zh-TW" sz="1300" b="1"/>
              <a:t>OP_9 / OP_11: </a:t>
            </a:r>
            <a:r>
              <a:rPr lang="zh-TW" sz="1300" b="1">
                <a:solidFill>
                  <a:srgbClr val="674EA7"/>
                </a:solidFill>
              </a:rPr>
              <a:t>Quantize and activate output</a:t>
            </a:r>
            <a:endParaRPr sz="1300" b="1">
              <a:solidFill>
                <a:srgbClr val="674EA7"/>
              </a:solidFill>
            </a:endParaRPr>
          </a:p>
        </p:txBody>
      </p:sp>
      <p:pic>
        <p:nvPicPr>
          <p:cNvPr id="178" name="Google Shape;1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5377" y="800738"/>
            <a:ext cx="2626425" cy="41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6450" y="209263"/>
            <a:ext cx="3450925" cy="395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3"/>
          <p:cNvSpPr/>
          <p:nvPr/>
        </p:nvSpPr>
        <p:spPr>
          <a:xfrm>
            <a:off x="4452800" y="840375"/>
            <a:ext cx="2051100" cy="632400"/>
          </a:xfrm>
          <a:prstGeom prst="rect">
            <a:avLst/>
          </a:prstGeom>
          <a:solidFill>
            <a:schemeClr val="lt1"/>
          </a:solidFill>
          <a:ln w="190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575" tIns="91575" rIns="91575" bIns="91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2" b="1"/>
              <a:t>OP_3: Write A0 buffer</a:t>
            </a:r>
            <a:endParaRPr sz="1002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2" b="1"/>
              <a:t>A[ 0 : M0−1 ] × K</a:t>
            </a:r>
            <a:endParaRPr sz="1002" b="1"/>
          </a:p>
        </p:txBody>
      </p:sp>
      <p:sp>
        <p:nvSpPr>
          <p:cNvPr id="185" name="Google Shape;185;p33"/>
          <p:cNvSpPr/>
          <p:nvPr/>
        </p:nvSpPr>
        <p:spPr>
          <a:xfrm>
            <a:off x="4452803" y="1740837"/>
            <a:ext cx="2051100" cy="632400"/>
          </a:xfrm>
          <a:prstGeom prst="rect">
            <a:avLst/>
          </a:prstGeom>
          <a:solidFill>
            <a:schemeClr val="lt1"/>
          </a:solidFill>
          <a:ln w="190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575" tIns="91575" rIns="91575" bIns="91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2" b="1"/>
              <a:t>OP_13: Write A1 buffer</a:t>
            </a:r>
            <a:endParaRPr sz="1002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2" b="1"/>
              <a:t>A[ M0 : M0+M1−1 ] × K</a:t>
            </a:r>
            <a:endParaRPr sz="1002" b="1"/>
          </a:p>
        </p:txBody>
      </p:sp>
      <p:sp>
        <p:nvSpPr>
          <p:cNvPr id="186" name="Google Shape;186;p33"/>
          <p:cNvSpPr/>
          <p:nvPr/>
        </p:nvSpPr>
        <p:spPr>
          <a:xfrm>
            <a:off x="4452806" y="2641281"/>
            <a:ext cx="2051100" cy="632400"/>
          </a:xfrm>
          <a:prstGeom prst="rect">
            <a:avLst/>
          </a:prstGeom>
          <a:solidFill>
            <a:schemeClr val="lt1"/>
          </a:solidFill>
          <a:ln w="190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575" tIns="91575" rIns="91575" bIns="91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2" b="1"/>
              <a:t>OP_20: Write A2 buffer</a:t>
            </a:r>
            <a:endParaRPr sz="1002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2" b="1"/>
              <a:t>A[ M0+M1 : M0+M1+M2−1 ] × K</a:t>
            </a:r>
            <a:endParaRPr sz="1002" b="1"/>
          </a:p>
        </p:txBody>
      </p:sp>
      <p:sp>
        <p:nvSpPr>
          <p:cNvPr id="187" name="Google Shape;187;p33"/>
          <p:cNvSpPr/>
          <p:nvPr/>
        </p:nvSpPr>
        <p:spPr>
          <a:xfrm>
            <a:off x="4452808" y="3541725"/>
            <a:ext cx="2051100" cy="632400"/>
          </a:xfrm>
          <a:prstGeom prst="rect">
            <a:avLst/>
          </a:prstGeom>
          <a:solidFill>
            <a:schemeClr val="lt1"/>
          </a:solidFill>
          <a:ln w="190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575" tIns="91575" rIns="91575" bIns="91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2" b="1"/>
              <a:t>OP_25: Write A3 buffer</a:t>
            </a:r>
            <a:endParaRPr sz="1002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2" b="1"/>
              <a:t>A[ M0+M1+M2 : M−1 ] × K</a:t>
            </a:r>
            <a:endParaRPr sz="1002" b="1"/>
          </a:p>
        </p:txBody>
      </p:sp>
      <p:cxnSp>
        <p:nvCxnSpPr>
          <p:cNvPr id="188" name="Google Shape;188;p33"/>
          <p:cNvCxnSpPr>
            <a:stCxn id="184" idx="3"/>
          </p:cNvCxnSpPr>
          <p:nvPr/>
        </p:nvCxnSpPr>
        <p:spPr>
          <a:xfrm>
            <a:off x="6503900" y="1156575"/>
            <a:ext cx="369000" cy="280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33"/>
          <p:cNvCxnSpPr>
            <a:stCxn id="185" idx="3"/>
          </p:cNvCxnSpPr>
          <p:nvPr/>
        </p:nvCxnSpPr>
        <p:spPr>
          <a:xfrm>
            <a:off x="6503903" y="2057037"/>
            <a:ext cx="366300" cy="255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33"/>
          <p:cNvCxnSpPr>
            <a:stCxn id="186" idx="3"/>
          </p:cNvCxnSpPr>
          <p:nvPr/>
        </p:nvCxnSpPr>
        <p:spPr>
          <a:xfrm>
            <a:off x="6503906" y="2957481"/>
            <a:ext cx="369000" cy="275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p33"/>
          <p:cNvCxnSpPr>
            <a:stCxn id="187" idx="3"/>
          </p:cNvCxnSpPr>
          <p:nvPr/>
        </p:nvCxnSpPr>
        <p:spPr>
          <a:xfrm>
            <a:off x="6503908" y="3857925"/>
            <a:ext cx="369000" cy="241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92" name="Google Shape;192;p33"/>
          <p:cNvPicPr preferRelativeResize="0"/>
          <p:nvPr/>
        </p:nvPicPr>
        <p:blipFill rotWithShape="1">
          <a:blip r:embed="rId4">
            <a:alphaModFix/>
          </a:blip>
          <a:srcRect t="43709"/>
          <a:stretch/>
        </p:blipFill>
        <p:spPr>
          <a:xfrm>
            <a:off x="0" y="1390420"/>
            <a:ext cx="4400099" cy="69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3"/>
          <p:cNvSpPr txBox="1">
            <a:spLocks noGrp="1"/>
          </p:cNvSpPr>
          <p:nvPr>
            <p:ph type="title"/>
          </p:nvPr>
        </p:nvSpPr>
        <p:spPr>
          <a:xfrm>
            <a:off x="167575" y="276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Conv</a:t>
            </a:r>
            <a:endParaRPr/>
          </a:p>
        </p:txBody>
      </p:sp>
      <p:pic>
        <p:nvPicPr>
          <p:cNvPr id="194" name="Google Shape;19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197120"/>
            <a:ext cx="4400099" cy="5533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5" name="Google Shape;195;p33"/>
          <p:cNvGraphicFramePr/>
          <p:nvPr/>
        </p:nvGraphicFramePr>
        <p:xfrm>
          <a:off x="2121125" y="354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{759AC9E0-39BC-4C39-BE7B-512771C0189A}</a:tableStyleId>
              </a:tblPr>
              <a:tblGrid>
                <a:gridCol w="39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4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5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6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8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6" name="Google Shape;196;p33"/>
          <p:cNvSpPr txBox="1"/>
          <p:nvPr/>
        </p:nvSpPr>
        <p:spPr>
          <a:xfrm>
            <a:off x="1483132" y="3541725"/>
            <a:ext cx="5223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A0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7" name="Google Shape;197;p33"/>
          <p:cNvSpPr txBox="1"/>
          <p:nvPr/>
        </p:nvSpPr>
        <p:spPr>
          <a:xfrm>
            <a:off x="1488363" y="3951050"/>
            <a:ext cx="5223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A1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8" name="Google Shape;198;p33"/>
          <p:cNvSpPr txBox="1"/>
          <p:nvPr/>
        </p:nvSpPr>
        <p:spPr>
          <a:xfrm>
            <a:off x="1488375" y="4360375"/>
            <a:ext cx="5223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A2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9" name="Google Shape;199;p33"/>
          <p:cNvSpPr txBox="1"/>
          <p:nvPr/>
        </p:nvSpPr>
        <p:spPr>
          <a:xfrm>
            <a:off x="1488375" y="4772825"/>
            <a:ext cx="5223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A3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0" name="Google Shape;200;p33"/>
          <p:cNvSpPr txBox="1"/>
          <p:nvPr/>
        </p:nvSpPr>
        <p:spPr>
          <a:xfrm>
            <a:off x="2079100" y="3097450"/>
            <a:ext cx="8799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K_size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1" name="Google Shape;201;p33"/>
          <p:cNvSpPr txBox="1"/>
          <p:nvPr/>
        </p:nvSpPr>
        <p:spPr>
          <a:xfrm>
            <a:off x="3027425" y="4157275"/>
            <a:ext cx="10464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M_size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2617850" y="3144600"/>
            <a:ext cx="630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1625" y="499573"/>
            <a:ext cx="3728400" cy="433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4"/>
          <p:cNvSpPr/>
          <p:nvPr/>
        </p:nvSpPr>
        <p:spPr>
          <a:xfrm>
            <a:off x="4524225" y="849425"/>
            <a:ext cx="1511100" cy="933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/>
              <a:t>OP_4: </a:t>
            </a:r>
            <a:endParaRPr sz="12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/>
              <a:t>Write global B buffer</a:t>
            </a:r>
            <a:endParaRPr sz="1200" b="1"/>
          </a:p>
        </p:txBody>
      </p:sp>
      <p:cxnSp>
        <p:nvCxnSpPr>
          <p:cNvPr id="209" name="Google Shape;209;p34"/>
          <p:cNvCxnSpPr>
            <a:stCxn id="208" idx="3"/>
          </p:cNvCxnSpPr>
          <p:nvPr/>
        </p:nvCxnSpPr>
        <p:spPr>
          <a:xfrm rot="10800000" flipH="1">
            <a:off x="6035325" y="1183475"/>
            <a:ext cx="1511100" cy="132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10" name="Google Shape;210;p34"/>
          <p:cNvPicPr preferRelativeResize="0"/>
          <p:nvPr/>
        </p:nvPicPr>
        <p:blipFill rotWithShape="1">
          <a:blip r:embed="rId4">
            <a:alphaModFix/>
          </a:blip>
          <a:srcRect t="10007"/>
          <a:stretch/>
        </p:blipFill>
        <p:spPr>
          <a:xfrm>
            <a:off x="82650" y="1540562"/>
            <a:ext cx="4257275" cy="136946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4"/>
          <p:cNvSpPr txBox="1">
            <a:spLocks noGrp="1"/>
          </p:cNvSpPr>
          <p:nvPr>
            <p:ph type="title"/>
          </p:nvPr>
        </p:nvSpPr>
        <p:spPr>
          <a:xfrm>
            <a:off x="167575" y="276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Conv</a:t>
            </a:r>
            <a:endParaRPr/>
          </a:p>
        </p:txBody>
      </p:sp>
      <p:graphicFrame>
        <p:nvGraphicFramePr>
          <p:cNvPr id="212" name="Google Shape;212;p34"/>
          <p:cNvGraphicFramePr/>
          <p:nvPr/>
        </p:nvGraphicFramePr>
        <p:xfrm>
          <a:off x="2121125" y="354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{759AC9E0-39BC-4C39-BE7B-512771C0189A}</a:tableStyleId>
              </a:tblPr>
              <a:tblGrid>
                <a:gridCol w="39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4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3" name="Google Shape;213;p34"/>
          <p:cNvSpPr txBox="1"/>
          <p:nvPr/>
        </p:nvSpPr>
        <p:spPr>
          <a:xfrm>
            <a:off x="1598832" y="3761075"/>
            <a:ext cx="5223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4" name="Google Shape;214;p34"/>
          <p:cNvSpPr txBox="1"/>
          <p:nvPr/>
        </p:nvSpPr>
        <p:spPr>
          <a:xfrm>
            <a:off x="2079100" y="3097450"/>
            <a:ext cx="8799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K_size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5" name="Google Shape;215;p34"/>
          <p:cNvSpPr txBox="1"/>
          <p:nvPr/>
        </p:nvSpPr>
        <p:spPr>
          <a:xfrm>
            <a:off x="3063550" y="3761075"/>
            <a:ext cx="11544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Ｎ_size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8726" y="125288"/>
            <a:ext cx="4400100" cy="489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5"/>
          <p:cNvSpPr/>
          <p:nvPr/>
        </p:nvSpPr>
        <p:spPr>
          <a:xfrm>
            <a:off x="3779625" y="1437525"/>
            <a:ext cx="1561800" cy="3029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/>
              <a:t>OP_10: </a:t>
            </a:r>
            <a:endParaRPr sz="11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/>
              <a:t>Launch 4 TPU cores simultaneously</a:t>
            </a:r>
            <a:endParaRPr sz="1100" b="1"/>
          </a:p>
        </p:txBody>
      </p:sp>
      <p:cxnSp>
        <p:nvCxnSpPr>
          <p:cNvPr id="222" name="Google Shape;222;p35"/>
          <p:cNvCxnSpPr/>
          <p:nvPr/>
        </p:nvCxnSpPr>
        <p:spPr>
          <a:xfrm>
            <a:off x="5357375" y="2510413"/>
            <a:ext cx="1981800" cy="5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3" name="Google Shape;223;p35"/>
          <p:cNvCxnSpPr/>
          <p:nvPr/>
        </p:nvCxnSpPr>
        <p:spPr>
          <a:xfrm>
            <a:off x="5346850" y="3362388"/>
            <a:ext cx="1992300" cy="10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4" name="Google Shape;224;p35"/>
          <p:cNvCxnSpPr/>
          <p:nvPr/>
        </p:nvCxnSpPr>
        <p:spPr>
          <a:xfrm>
            <a:off x="5346850" y="4245938"/>
            <a:ext cx="1992300" cy="25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5" name="Google Shape;225;p35"/>
          <p:cNvCxnSpPr/>
          <p:nvPr/>
        </p:nvCxnSpPr>
        <p:spPr>
          <a:xfrm>
            <a:off x="5352100" y="1600463"/>
            <a:ext cx="1981800" cy="5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26" name="Google Shape;22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938" y="2203525"/>
            <a:ext cx="31718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5"/>
          <p:cNvSpPr txBox="1"/>
          <p:nvPr/>
        </p:nvSpPr>
        <p:spPr>
          <a:xfrm>
            <a:off x="167575" y="2692275"/>
            <a:ext cx="3372900" cy="1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TW" sz="1700">
                <a:solidFill>
                  <a:schemeClr val="dk1"/>
                </a:solidFill>
              </a:rPr>
              <a:t>When input and weight buffers are ready, we issue </a:t>
            </a:r>
            <a:r>
              <a:rPr lang="zh-TW" sz="1700" b="1">
                <a:solidFill>
                  <a:schemeClr val="dk1"/>
                </a:solidFill>
              </a:rPr>
              <a:t>OP_START</a:t>
            </a:r>
            <a:r>
              <a:rPr lang="zh-TW" sz="1700">
                <a:solidFill>
                  <a:schemeClr val="dk1"/>
                </a:solidFill>
              </a:rPr>
              <a:t> to launch all four TPU cores simultaneously.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28" name="Google Shape;228;p35"/>
          <p:cNvSpPr txBox="1">
            <a:spLocks noGrp="1"/>
          </p:cNvSpPr>
          <p:nvPr>
            <p:ph type="title"/>
          </p:nvPr>
        </p:nvSpPr>
        <p:spPr>
          <a:xfrm>
            <a:off x="167575" y="276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Conv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2397" y="125288"/>
            <a:ext cx="4400100" cy="489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6"/>
          <p:cNvSpPr/>
          <p:nvPr/>
        </p:nvSpPr>
        <p:spPr>
          <a:xfrm>
            <a:off x="4905121" y="1353325"/>
            <a:ext cx="2861100" cy="631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OP_5: Read C0 buffer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C[ 0 : M0−1 ] × N</a:t>
            </a:r>
            <a:endParaRPr b="1"/>
          </a:p>
        </p:txBody>
      </p:sp>
      <p:sp>
        <p:nvSpPr>
          <p:cNvPr id="235" name="Google Shape;235;p36"/>
          <p:cNvSpPr/>
          <p:nvPr/>
        </p:nvSpPr>
        <p:spPr>
          <a:xfrm>
            <a:off x="4905121" y="2242025"/>
            <a:ext cx="2861100" cy="631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OP_15: Read C1 buffer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C[ M0 : M0+M1−1 ] × N</a:t>
            </a:r>
            <a:endParaRPr b="1"/>
          </a:p>
        </p:txBody>
      </p:sp>
      <p:sp>
        <p:nvSpPr>
          <p:cNvPr id="236" name="Google Shape;236;p36"/>
          <p:cNvSpPr/>
          <p:nvPr/>
        </p:nvSpPr>
        <p:spPr>
          <a:xfrm>
            <a:off x="4905096" y="3130725"/>
            <a:ext cx="2861100" cy="631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OP_22: Read C2 buffer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C[ M0+M1 : M0+M1+M2−1 ] × N</a:t>
            </a:r>
            <a:endParaRPr b="1"/>
          </a:p>
        </p:txBody>
      </p:sp>
      <p:sp>
        <p:nvSpPr>
          <p:cNvPr id="237" name="Google Shape;237;p36"/>
          <p:cNvSpPr/>
          <p:nvPr/>
        </p:nvSpPr>
        <p:spPr>
          <a:xfrm>
            <a:off x="4905121" y="4019425"/>
            <a:ext cx="2861100" cy="6312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OP_27: </a:t>
            </a:r>
            <a:r>
              <a:rPr lang="zh-TW" b="1">
                <a:solidFill>
                  <a:schemeClr val="dk1"/>
                </a:solidFill>
              </a:rPr>
              <a:t>Read </a:t>
            </a:r>
            <a:r>
              <a:rPr lang="zh-TW" b="1"/>
              <a:t>C3 buffer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C[ M0+M1+M2 : M−1 ] × N</a:t>
            </a:r>
            <a:endParaRPr b="1"/>
          </a:p>
        </p:txBody>
      </p:sp>
      <p:cxnSp>
        <p:nvCxnSpPr>
          <p:cNvPr id="238" name="Google Shape;238;p36"/>
          <p:cNvCxnSpPr>
            <a:stCxn id="234" idx="3"/>
          </p:cNvCxnSpPr>
          <p:nvPr/>
        </p:nvCxnSpPr>
        <p:spPr>
          <a:xfrm>
            <a:off x="7766221" y="1668925"/>
            <a:ext cx="273300" cy="52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9" name="Google Shape;239;p36"/>
          <p:cNvCxnSpPr/>
          <p:nvPr/>
        </p:nvCxnSpPr>
        <p:spPr>
          <a:xfrm>
            <a:off x="7766221" y="2541893"/>
            <a:ext cx="273300" cy="52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0" name="Google Shape;240;p36"/>
          <p:cNvCxnSpPr/>
          <p:nvPr/>
        </p:nvCxnSpPr>
        <p:spPr>
          <a:xfrm>
            <a:off x="7766221" y="3414868"/>
            <a:ext cx="273300" cy="52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" name="Google Shape;241;p36"/>
          <p:cNvCxnSpPr/>
          <p:nvPr/>
        </p:nvCxnSpPr>
        <p:spPr>
          <a:xfrm>
            <a:off x="7766221" y="4287843"/>
            <a:ext cx="273300" cy="52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2" name="Google Shape;242;p36"/>
          <p:cNvSpPr txBox="1">
            <a:spLocks noGrp="1"/>
          </p:cNvSpPr>
          <p:nvPr>
            <p:ph type="title"/>
          </p:nvPr>
        </p:nvSpPr>
        <p:spPr>
          <a:xfrm>
            <a:off x="171900" y="223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Conv</a:t>
            </a:r>
            <a:endParaRPr/>
          </a:p>
        </p:txBody>
      </p:sp>
      <p:graphicFrame>
        <p:nvGraphicFramePr>
          <p:cNvPr id="243" name="Google Shape;243;p36"/>
          <p:cNvGraphicFramePr/>
          <p:nvPr/>
        </p:nvGraphicFramePr>
        <p:xfrm>
          <a:off x="1930425" y="264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{759AC9E0-39BC-4C39-BE7B-512771C0189A}</a:tableStyleId>
              </a:tblPr>
              <a:tblGrid>
                <a:gridCol w="39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15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34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46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4" name="Google Shape;244;p36"/>
          <p:cNvSpPr txBox="1"/>
          <p:nvPr/>
        </p:nvSpPr>
        <p:spPr>
          <a:xfrm>
            <a:off x="1292432" y="2648725"/>
            <a:ext cx="5223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C0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1297663" y="3058050"/>
            <a:ext cx="5223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C1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1297675" y="3467375"/>
            <a:ext cx="5223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C2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7" name="Google Shape;247;p36"/>
          <p:cNvSpPr txBox="1"/>
          <p:nvPr/>
        </p:nvSpPr>
        <p:spPr>
          <a:xfrm>
            <a:off x="1297675" y="3879825"/>
            <a:ext cx="5223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C3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8" name="Google Shape;248;p36"/>
          <p:cNvSpPr txBox="1"/>
          <p:nvPr/>
        </p:nvSpPr>
        <p:spPr>
          <a:xfrm>
            <a:off x="1930425" y="2223838"/>
            <a:ext cx="11289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N_size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9" name="Google Shape;249;p36"/>
          <p:cNvSpPr txBox="1"/>
          <p:nvPr/>
        </p:nvSpPr>
        <p:spPr>
          <a:xfrm>
            <a:off x="2836725" y="3206050"/>
            <a:ext cx="10350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M_size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50" name="Google Shape;25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75" y="1355137"/>
            <a:ext cx="4136200" cy="734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726" y="125275"/>
            <a:ext cx="4400100" cy="489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7"/>
          <p:cNvSpPr/>
          <p:nvPr/>
        </p:nvSpPr>
        <p:spPr>
          <a:xfrm>
            <a:off x="2171463" y="638063"/>
            <a:ext cx="3270600" cy="572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/>
              <a:t>OP_6 / OP_8: Set quantization parameters</a:t>
            </a:r>
            <a:endParaRPr sz="1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/>
              <a:t>OP_9 / OP_11: Quantize and output</a:t>
            </a:r>
            <a:endParaRPr sz="1200" b="1"/>
          </a:p>
        </p:txBody>
      </p:sp>
      <p:cxnSp>
        <p:nvCxnSpPr>
          <p:cNvPr id="257" name="Google Shape;257;p37"/>
          <p:cNvCxnSpPr>
            <a:stCxn id="256" idx="3"/>
          </p:cNvCxnSpPr>
          <p:nvPr/>
        </p:nvCxnSpPr>
        <p:spPr>
          <a:xfrm rot="10800000" flipH="1">
            <a:off x="5442063" y="799013"/>
            <a:ext cx="642000" cy="125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58" name="Google Shape;258;p37"/>
          <p:cNvPicPr preferRelativeResize="0"/>
          <p:nvPr/>
        </p:nvPicPr>
        <p:blipFill rotWithShape="1">
          <a:blip r:embed="rId4">
            <a:alphaModFix/>
          </a:blip>
          <a:srcRect t="59479"/>
          <a:stretch/>
        </p:blipFill>
        <p:spPr>
          <a:xfrm>
            <a:off x="590988" y="2145875"/>
            <a:ext cx="3598825" cy="64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/>
          <p:nvPr/>
        </p:nvSpPr>
        <p:spPr>
          <a:xfrm>
            <a:off x="326125" y="3154850"/>
            <a:ext cx="37761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zh-TW" sz="15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acc</a:t>
            </a:r>
            <a:r>
              <a:rPr lang="zh-TW" sz="1500" b="1">
                <a:solidFill>
                  <a:schemeClr val="dk1"/>
                </a:solidFill>
              </a:rPr>
              <a:t> </a:t>
            </a:r>
            <a:r>
              <a:rPr lang="zh-TW" sz="1500">
                <a:solidFill>
                  <a:schemeClr val="dk1"/>
                </a:solidFill>
              </a:rPr>
              <a:t>is the accumulator value read from the C buffer, which is then processed by bias addition, quantization, activation, and finally written back as the output.</a:t>
            </a:r>
            <a:endParaRPr sz="1800"/>
          </a:p>
        </p:txBody>
      </p:sp>
      <p:sp>
        <p:nvSpPr>
          <p:cNvPr id="260" name="Google Shape;260;p37"/>
          <p:cNvSpPr txBox="1">
            <a:spLocks noGrp="1"/>
          </p:cNvSpPr>
          <p:nvPr>
            <p:ph type="title"/>
          </p:nvPr>
        </p:nvSpPr>
        <p:spPr>
          <a:xfrm>
            <a:off x="167575" y="276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Conv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 txBox="1">
            <a:spLocks noGrp="1"/>
          </p:cNvSpPr>
          <p:nvPr>
            <p:ph type="title"/>
          </p:nvPr>
        </p:nvSpPr>
        <p:spPr>
          <a:xfrm>
            <a:off x="167575" y="276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Leaky Relu</a:t>
            </a:r>
            <a:endParaRPr/>
          </a:p>
        </p:txBody>
      </p:sp>
      <p:sp>
        <p:nvSpPr>
          <p:cNvPr id="266" name="Google Shape;266;p38"/>
          <p:cNvSpPr txBox="1">
            <a:spLocks noGrp="1"/>
          </p:cNvSpPr>
          <p:nvPr>
            <p:ph type="body" idx="1"/>
          </p:nvPr>
        </p:nvSpPr>
        <p:spPr>
          <a:xfrm>
            <a:off x="311700" y="4027500"/>
            <a:ext cx="85206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 b="1">
                <a:solidFill>
                  <a:schemeClr val="dk1"/>
                </a:solidFill>
              </a:rPr>
              <a:t>Left:</a:t>
            </a:r>
            <a:r>
              <a:rPr lang="zh-TW" sz="1200">
                <a:solidFill>
                  <a:schemeClr val="dk1"/>
                </a:solidFill>
              </a:rPr>
              <a:t> Software-only implementation of quantization and activation using </a:t>
            </a:r>
            <a:r>
              <a:rPr lang="zh-TW" sz="12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MultiplyByQuantizedMultiplier</a:t>
            </a:r>
            <a:r>
              <a:rPr lang="zh-TW" sz="1200">
                <a:solidFill>
                  <a:schemeClr val="dk1"/>
                </a:solidFill>
              </a:rPr>
              <a:t>, branch on sign, then clamp in software.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 b="1">
                <a:solidFill>
                  <a:schemeClr val="dk1"/>
                </a:solidFill>
              </a:rPr>
              <a:t>Right:</a:t>
            </a:r>
            <a:r>
              <a:rPr lang="zh-TW" sz="1200">
                <a:solidFill>
                  <a:schemeClr val="dk1"/>
                </a:solidFill>
              </a:rPr>
              <a:t> Quantization and activation offloaded to CFU hardware.</a:t>
            </a:r>
            <a:endParaRPr sz="1900"/>
          </a:p>
        </p:txBody>
      </p:sp>
      <p:pic>
        <p:nvPicPr>
          <p:cNvPr id="267" name="Google Shape;26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825" y="1170125"/>
            <a:ext cx="4207350" cy="259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00" y="1170125"/>
            <a:ext cx="3944126" cy="2590307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8"/>
          <p:cNvSpPr/>
          <p:nvPr/>
        </p:nvSpPr>
        <p:spPr>
          <a:xfrm>
            <a:off x="4096513" y="2350375"/>
            <a:ext cx="662700" cy="229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275" name="Google Shape;275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Challenge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Methodology 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Evaluation Result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Conclusion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76" name="Google Shape;276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Evaluation Results</a:t>
            </a:r>
            <a:endParaRPr/>
          </a:p>
        </p:txBody>
      </p:sp>
      <p:sp>
        <p:nvSpPr>
          <p:cNvPr id="282" name="Google Shape;282;p40"/>
          <p:cNvSpPr txBox="1">
            <a:spLocks noGrp="1"/>
          </p:cNvSpPr>
          <p:nvPr>
            <p:ph type="body" idx="1"/>
          </p:nvPr>
        </p:nvSpPr>
        <p:spPr>
          <a:xfrm>
            <a:off x="1359325" y="857250"/>
            <a:ext cx="1157100" cy="4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Original</a:t>
            </a:r>
            <a:endParaRPr/>
          </a:p>
        </p:txBody>
      </p:sp>
      <p:pic>
        <p:nvPicPr>
          <p:cNvPr id="283" name="Google Shape;28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150" y="1363275"/>
            <a:ext cx="3449450" cy="11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0"/>
          <p:cNvSpPr txBox="1"/>
          <p:nvPr/>
        </p:nvSpPr>
        <p:spPr>
          <a:xfrm>
            <a:off x="4742225" y="3448750"/>
            <a:ext cx="41835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50">
                <a:solidFill>
                  <a:schemeClr val="dk1"/>
                </a:solidFill>
                <a:highlight>
                  <a:schemeClr val="lt1"/>
                </a:highlight>
              </a:rPr>
              <a:t>Latency speedup = 139.64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85" name="Google Shape;28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646025"/>
            <a:ext cx="3992753" cy="239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7500" y="1348950"/>
            <a:ext cx="3449450" cy="1162889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0"/>
          <p:cNvSpPr txBox="1">
            <a:spLocks noGrp="1"/>
          </p:cNvSpPr>
          <p:nvPr>
            <p:ph type="body" idx="1"/>
          </p:nvPr>
        </p:nvSpPr>
        <p:spPr>
          <a:xfrm>
            <a:off x="5833675" y="857250"/>
            <a:ext cx="1157100" cy="4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Ours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293" name="Google Shape;293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Challenge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Methodology 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Evaluation Result</a:t>
            </a:r>
            <a:r>
              <a:rPr lang="zh-TW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TW">
                <a:solidFill>
                  <a:srgbClr val="000000"/>
                </a:solidFill>
              </a:rPr>
              <a:t>Conclusion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4" name="Google Shape;294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Conclusion</a:t>
            </a:r>
            <a:endParaRPr/>
          </a:p>
        </p:txBody>
      </p:sp>
      <p:sp>
        <p:nvSpPr>
          <p:cNvPr id="300" name="Google Shape;300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The current design is primarily limited by buffer I/O overhead (data loading and unloading).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Future work could focus on implementing burst mode transfers by holding the CMD signal high, allowing for continuous data streaming to the buffer and significantly reducing handshake overhead.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It may be necessary to implement a FIFO to enable continuous data streaming into the buffer.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"/>
          <p:cNvSpPr txBox="1">
            <a:spLocks noGrp="1"/>
          </p:cNvSpPr>
          <p:nvPr>
            <p:ph type="body" idx="1"/>
          </p:nvPr>
        </p:nvSpPr>
        <p:spPr>
          <a:xfrm>
            <a:off x="311700" y="2163475"/>
            <a:ext cx="8520600" cy="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TW" sz="2900" b="1">
                <a:solidFill>
                  <a:schemeClr val="dk1"/>
                </a:solidFill>
              </a:rPr>
              <a:t>Thanks for listening</a:t>
            </a:r>
            <a:endParaRPr sz="2900" b="1">
              <a:solidFill>
                <a:schemeClr val="dk1"/>
              </a:solidFill>
            </a:endParaRPr>
          </a:p>
        </p:txBody>
      </p:sp>
      <p:sp>
        <p:nvSpPr>
          <p:cNvPr id="306" name="Google Shape;306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829</Words>
  <Application>Microsoft Office PowerPoint</Application>
  <PresentationFormat>如螢幕大小 (16:9)</PresentationFormat>
  <Paragraphs>151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19</vt:i4>
      </vt:variant>
    </vt:vector>
  </HeadingPairs>
  <TitlesOfParts>
    <vt:vector size="23" baseType="lpstr">
      <vt:lpstr>Arial</vt:lpstr>
      <vt:lpstr>Roboto Mono</vt:lpstr>
      <vt:lpstr>Simple Light</vt:lpstr>
      <vt:lpstr>Simple Light</vt:lpstr>
      <vt:lpstr>AAML Final Project - Pruned Wav2Letter</vt:lpstr>
      <vt:lpstr>Outline</vt:lpstr>
      <vt:lpstr>Outline</vt:lpstr>
      <vt:lpstr>Challenge</vt:lpstr>
      <vt:lpstr>Challenge</vt:lpstr>
      <vt:lpstr>Outline</vt:lpstr>
      <vt:lpstr>PowerPoint 簡報</vt:lpstr>
      <vt:lpstr>ISA (OP code)</vt:lpstr>
      <vt:lpstr>Conv</vt:lpstr>
      <vt:lpstr>Conv</vt:lpstr>
      <vt:lpstr>Conv</vt:lpstr>
      <vt:lpstr>Conv</vt:lpstr>
      <vt:lpstr>Conv</vt:lpstr>
      <vt:lpstr>Leaky Relu</vt:lpstr>
      <vt:lpstr>Outline</vt:lpstr>
      <vt:lpstr>Evaluation Results</vt:lpstr>
      <vt:lpstr>Outline</vt:lpstr>
      <vt:lpstr>Conclusion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Pao Hsiang Lee</cp:lastModifiedBy>
  <cp:revision>1</cp:revision>
  <dcterms:modified xsi:type="dcterms:W3CDTF">2026-03-08T02:13:08Z</dcterms:modified>
</cp:coreProperties>
</file>